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995" r:id="rId2"/>
    <p:sldId id="996" r:id="rId3"/>
    <p:sldId id="997" r:id="rId4"/>
  </p:sldIdLst>
  <p:sldSz cx="9144000" cy="6858000" type="screen4x3"/>
  <p:notesSz cx="7104063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  <a:srgbClr val="FF00FF"/>
    <a:srgbClr val="0000CC"/>
    <a:srgbClr val="008000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202B0CA-FC54-4496-8BCA-5EF66A818D29}" styleName="スタイル (濃色)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62" autoAdjust="0"/>
    <p:restoredTop sz="94688" autoAdjust="0"/>
  </p:normalViewPr>
  <p:slideViewPr>
    <p:cSldViewPr>
      <p:cViewPr varScale="1">
        <p:scale>
          <a:sx n="190" d="100"/>
          <a:sy n="190" d="100"/>
        </p:scale>
        <p:origin x="1110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4023837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A10B1079-7959-4CC7-AA46-C73571C2E0EB}" type="datetimeFigureOut">
              <a:rPr lang="ja-JP" altLang="en-US"/>
              <a:pPr>
                <a:defRPr/>
              </a:pPr>
              <a:t>2025/2/27</a:t>
            </a:fld>
            <a:endParaRPr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1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4023837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97833689-FF5B-43EB-A7F6-A74CFE6918D0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187103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3837" y="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5678308E-3543-40B8-A3BE-FD592413CEF9}" type="datetimeFigureOut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6513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976" tIns="49488" rIns="98976" bIns="49488" rtlCol="0" anchor="ctr"/>
          <a:lstStyle/>
          <a:p>
            <a:pPr lvl="0"/>
            <a:endParaRPr lang="ja-JP" altLang="en-US" noProof="0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10090" y="4860925"/>
            <a:ext cx="5683886" cy="4605338"/>
          </a:xfrm>
          <a:prstGeom prst="rect">
            <a:avLst/>
          </a:prstGeom>
        </p:spPr>
        <p:txBody>
          <a:bodyPr vert="horz" lIns="98976" tIns="49488" rIns="98976" bIns="49488" rtlCol="0">
            <a:normAutofit/>
          </a:bodyPr>
          <a:lstStyle/>
          <a:p>
            <a:pPr lvl="0"/>
            <a:r>
              <a:rPr lang="ja-JP" altLang="en-US" noProof="0"/>
              <a:t>マスタ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1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l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3837" y="9721852"/>
            <a:ext cx="3078639" cy="511175"/>
          </a:xfrm>
          <a:prstGeom prst="rect">
            <a:avLst/>
          </a:prstGeom>
        </p:spPr>
        <p:txBody>
          <a:bodyPr vert="horz" lIns="98976" tIns="49488" rIns="98976" bIns="49488" rtlCol="0" anchor="b"/>
          <a:lstStyle>
            <a:lvl1pPr algn="r">
              <a:defRPr sz="13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570545AC-6B8C-487A-BA25-F91F0128AC21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9000462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FE1D1-75D6-4B85-83EF-A07E3E2AE536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48979-7B57-48E3-8507-FC4D290E7866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512676"/>
            <a:ext cx="8229600" cy="598078"/>
          </a:xfrm>
        </p:spPr>
        <p:txBody>
          <a:bodyPr/>
          <a:lstStyle>
            <a:lvl1pPr algn="l">
              <a:defRPr b="1" baseline="0">
                <a:solidFill>
                  <a:schemeClr val="accent1"/>
                </a:solidFill>
                <a:latin typeface="Calibri" pitchFamily="34" charset="0"/>
                <a:ea typeface="メイリオ" pitchFamily="50" charset="-128"/>
              </a:defRPr>
            </a:lvl1pPr>
          </a:lstStyle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Calibri" pitchFamily="34" charset="0"/>
                <a:ea typeface="メイリオ" pitchFamily="50" charset="-128"/>
              </a:defRPr>
            </a:lvl1pPr>
            <a:lvl2pPr>
              <a:defRPr baseline="0">
                <a:latin typeface="Calibri" pitchFamily="34" charset="0"/>
                <a:ea typeface="メイリオ" pitchFamily="50" charset="-128"/>
              </a:defRPr>
            </a:lvl2pPr>
            <a:lvl3pPr>
              <a:defRPr baseline="0">
                <a:latin typeface="Calibri" pitchFamily="34" charset="0"/>
                <a:ea typeface="メイリオ" pitchFamily="50" charset="-128"/>
              </a:defRPr>
            </a:lvl3pPr>
            <a:lvl4pPr>
              <a:defRPr baseline="0">
                <a:latin typeface="Calibri" pitchFamily="34" charset="0"/>
                <a:ea typeface="メイリオ" pitchFamily="50" charset="-128"/>
              </a:defRPr>
            </a:lvl4pPr>
            <a:lvl5pPr>
              <a:defRPr baseline="0">
                <a:latin typeface="Calibri" pitchFamily="34" charset="0"/>
                <a:ea typeface="メイリオ" pitchFamily="50" charset="-128"/>
              </a:defRPr>
            </a:lvl5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3121A-FC5B-4871-93B8-D1D93EC1C5E7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76B10B91-6492-4C08-AE87-F344306858DA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46DB63-FF8F-4A28-8238-4365B834152E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0523AC-D566-40B6-8146-ABB0CA7E2E1E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8A13-944A-457B-A400-922A20F91880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2D053A-E38C-49D7-8BD8-B94CAEB5D6F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1D3EF6-DEC3-41D9-9D28-D0207AAE0E6F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8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9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96C4F-6BF4-4E36-AAD9-453014EDC804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32FE9F-71D3-4952-BCA4-A9B007BB1D19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4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9F8DE-F93F-41DF-ADE9-B54E1483393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06603-A469-4074-926B-731E7222CB81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3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4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A6F3B-530C-4CB8-BA9D-C6FC8F3177DF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E0AF40-00C7-4ABF-ACE6-5DB820DEFF8C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AA8C6F-74A6-4E9C-B547-B2C7ACFCDE17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dirty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0E4E17-FA68-4152-A16A-F66521E853C3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6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33B9C-AEB3-46DC-B7F4-2F90819FF849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0C36B-F82F-4396-ADE4-838E5331836C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0501B8-080B-4842-9CE0-5FCDF03C0C73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2683D8-B353-4A4C-80C4-153EEDD17C12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2E4A17-2AC4-42B8-BB4D-92282BFFFB1B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タイトル プレースホル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20483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7268845D-EB91-4C3E-BFC3-8EF8B6EBCB5E}" type="datetime1">
              <a:rPr lang="ja-JP" altLang="en-US"/>
              <a:pPr>
                <a:defRPr/>
              </a:pPr>
              <a:t>2025/2/27</a:t>
            </a:fld>
            <a:endParaRPr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72580C4-A24A-4BC6-BBA3-32888201015C}" type="slidenum">
              <a:rPr lang="ja-JP" altLang="en-US"/>
              <a:pPr>
                <a:defRPr/>
              </a:pPr>
              <a:t>‹#›</a:t>
            </a:fld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8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タイトル 1">
            <a:extLst>
              <a:ext uri="{FF2B5EF4-FFF2-40B4-BE49-F238E27FC236}">
                <a16:creationId xmlns:a16="http://schemas.microsoft.com/office/drawing/2014/main" id="{A6C4BF47-A573-4CAE-AAC9-B006A54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GNSS Signals </a:t>
            </a:r>
            <a:r>
              <a:rPr lang="en-US" altLang="ja-JP" sz="2000" dirty="0">
                <a:solidFill>
                  <a:schemeClr val="tx1"/>
                </a:solidFill>
              </a:rPr>
              <a:t>(1/3)</a:t>
            </a:r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スライド番号プレースホルダ 20">
            <a:extLst>
              <a:ext uri="{FF2B5EF4-FFF2-40B4-BE49-F238E27FC236}">
                <a16:creationId xmlns:a16="http://schemas.microsoft.com/office/drawing/2014/main" id="{6072A7FD-5C96-45C0-A2C9-927E9572B2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1F5A91CE-2731-4DAE-BD0D-B2B3DD7AE0C6}" type="slidenum">
              <a:rPr lang="ja-JP" altLang="en-US" sz="1200">
                <a:latin typeface="Calibri" panose="020F0502020204030204" pitchFamily="34" charset="0"/>
              </a:rPr>
              <a:pPr eaLnBrk="1" hangingPunct="1"/>
              <a:t>1</a:t>
            </a:fld>
            <a:endParaRPr lang="ja-JP" altLang="en-US" sz="1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557C7C3-0E64-4225-B311-F1DDA000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917479"/>
              </p:ext>
            </p:extLst>
          </p:nvPr>
        </p:nvGraphicFramePr>
        <p:xfrm>
          <a:off x="431540" y="1736812"/>
          <a:ext cx="8316924" cy="4619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90794692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4986815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43852282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6322068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9040627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80995624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994936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5662908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69366724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0544441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821719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1744707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94795160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80851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18701458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588832987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492388396"/>
                    </a:ext>
                  </a:extLst>
                </a:gridCol>
              </a:tblGrid>
              <a:tr h="120012">
                <a:tc rowSpan="1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1" kern="100" dirty="0">
                          <a:solidFill>
                            <a:srgbClr val="008000"/>
                          </a:solidFill>
                          <a:effectLst/>
                          <a:latin typeface="+mj-lt"/>
                        </a:rPr>
                        <a:t>GPS</a:t>
                      </a:r>
                      <a:r>
                        <a:rPr lang="en-US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[1][2][3]</a:t>
                      </a: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1575.42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/A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-158.5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102808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L1P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(Y)</a:t>
                      </a:r>
                      <a:r>
                        <a:rPr lang="en-US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*1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-161.5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LNAV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883739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L1M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BOC(10,5)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M</a:t>
                      </a: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75823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-163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BOC(1,1)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CNAV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BCH,LDPC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GPS III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074838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-158.25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TMBOC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(6,1,4/33)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316453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1227.6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/A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-164.5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-M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8572087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L2P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(Y)</a:t>
                      </a:r>
                      <a:r>
                        <a:rPr kumimoji="1" lang="en-US" altLang="ja-JP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-164.5/-161.5</a:t>
                      </a:r>
                      <a:endParaRPr lang="ja-JP" sz="8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1week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LNAV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99760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L2M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BOC(10,5)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-M</a:t>
                      </a: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296440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Q/I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-160.0/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BPSK(1)+TDM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IIR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-M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33423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 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L2CM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729841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-L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BPSK(1)+TDM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767250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L2CL</a:t>
                      </a: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361814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1176.45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-157.9/-157.0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IIF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79777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-157.9/-157.0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313418"/>
                  </a:ext>
                </a:extLst>
              </a:tr>
              <a:tr h="120012">
                <a:tc rowSpan="1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rgbClr val="FF9900"/>
                          </a:solidFill>
                          <a:effectLst/>
                          <a:latin typeface="+mj-lt"/>
                        </a:rPr>
                        <a:t>GLONASS</a:t>
                      </a: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[4][5][6][7]</a:t>
                      </a:r>
                      <a:r>
                        <a:rPr lang="en-US" sz="900" b="1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1602.0 +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0.5625K</a:t>
                      </a: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*2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L1C/A</a:t>
                      </a: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*4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-161.0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BPSK(0.5)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 / 2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/ 2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G1CA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77170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L1P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BPSK(5)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7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5110000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426536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1600.995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L1OCd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BPSK(1)+TDM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GLO-K2~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G1OCD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178955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BOC(1,1)+TDM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4092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G1OCP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11174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L1SC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447626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1246.0 +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0.4375K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L2C/A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*5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-167.0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BPSK(0.5)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0.511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 / 2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/ 2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*3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G2CA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086101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L2P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 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BPSK(5)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7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5110000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5.11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3827501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1248.06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L2CSI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BPSK(1)+TDM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GLO-K2~</a:t>
                      </a: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681375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7200" marB="72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BOC(1,1)+TDM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G2OCP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3148820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L2SC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307664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1202.025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L3OCd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 (BC)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GLO-STR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GLO-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K1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G3OCD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0026932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L3OCp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G3OCP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989863"/>
                  </a:ext>
                </a:extLst>
              </a:tr>
              <a:tr h="120012">
                <a:tc rowSpan="7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rgbClr val="CC00CC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Galileo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[8]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1575.42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E1</a:t>
                      </a: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-A</a:t>
                      </a:r>
                      <a:endParaRPr lang="ja-JP" sz="900" b="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BOC(15,2.5)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2.5575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G/NAV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PRS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809283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E1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-B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-157.0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CBOC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(6,1,1/11)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4092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I/NAV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OS,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SoL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, CS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E1B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322088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E1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-C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CBOC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(6,1,1/11)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4092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E1C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3582469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F/NAV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OS, CS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839377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E5a-Q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E5AQ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59222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E5b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I/NAV</a:t>
                      </a:r>
                      <a:endParaRPr lang="ja-JP" sz="900" b="0" kern="10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OS, 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SoL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, CS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E5BI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173221"/>
                  </a:ext>
                </a:extLst>
              </a:tr>
              <a:tr h="120012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0367" marR="20367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E5b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E5BQ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969560"/>
                  </a:ext>
                </a:extLst>
              </a:tr>
            </a:tbl>
          </a:graphicData>
        </a:graphic>
      </p:graphicFrame>
      <p:sp>
        <p:nvSpPr>
          <p:cNvPr id="6" name="Text Box 52">
            <a:extLst>
              <a:ext uri="{FF2B5EF4-FFF2-40B4-BE49-F238E27FC236}">
                <a16:creationId xmlns:a16="http://schemas.microsoft.com/office/drawing/2014/main" id="{FC9684D1-8EC8-4D0E-B028-DED57FCF3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1" y="6381327"/>
            <a:ext cx="8316924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r>
              <a:rPr sz="900"/>
              <a:t>*1 AS ON, *2 K = {-7, ..., +6}, *3 Odd FCN, *4 L1OF, *5 L2OF, *6 Convolutional Code (R=1/2, K=7), NH: Neumann-Hoffman Code, MC: Manchester Code, BC: Barker Code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75467FF1-3B1F-70F7-B955-98BCF881A6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564907"/>
              </p:ext>
            </p:extLst>
          </p:nvPr>
        </p:nvGraphicFramePr>
        <p:xfrm>
          <a:off x="431540" y="1088740"/>
          <a:ext cx="8316924" cy="617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51633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09382227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5942733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47568908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62908973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44508398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4725180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57274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9262594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77200273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772547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7103395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4829958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69936599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995466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6533337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628015514"/>
                    </a:ext>
                  </a:extLst>
                </a:gridCol>
              </a:tblGrid>
              <a:tr h="2057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Carrier Freq. (MHz)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I/Q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Min Rec. Power (</a:t>
                      </a:r>
                      <a:r>
                        <a:rPr kumimoji="1" lang="en-US" altLang="ja-JP" sz="900" dirty="0" err="1">
                          <a:solidFill>
                            <a:schemeClr val="tx1"/>
                          </a:solidFill>
                        </a:rPr>
                        <a:t>dBW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Modulation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Primary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Secondary 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Navigation 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Pocket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SDR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Signal ID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57734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Chip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Mcps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Symbol Rate 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sps</a:t>
                      </a:r>
                      <a:r>
                        <a:rPr lang="en-US" altLang="ja-JP" sz="8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8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(bps)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FEC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1301"/>
                  </a:ext>
                </a:extLst>
              </a:tr>
            </a:tbl>
          </a:graphicData>
        </a:graphic>
      </p:graphicFrame>
      <p:sp>
        <p:nvSpPr>
          <p:cNvPr id="4" name="Text Box 52">
            <a:extLst>
              <a:ext uri="{FF2B5EF4-FFF2-40B4-BE49-F238E27FC236}">
                <a16:creationId xmlns:a16="http://schemas.microsoft.com/office/drawing/2014/main" id="{BB5CCDA2-6C1C-80E3-FE5F-B17D6A173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77" y="801109"/>
            <a:ext cx="371364" cy="1457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endParaRPr lang="en-US" altLang="ja-JP" sz="900" dirty="0">
              <a:latin typeface="+mj-lt"/>
              <a:ea typeface="ＭＳ 明朝" pitchFamily="17" charset="-128"/>
            </a:endParaRPr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120A0855-CDC9-C2CF-1600-BDF9493491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841" y="800418"/>
            <a:ext cx="1431775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Military or Restricted Signal</a:t>
            </a:r>
          </a:p>
        </p:txBody>
      </p:sp>
    </p:spTree>
    <p:extLst>
      <p:ext uri="{BB962C8B-B14F-4D97-AF65-F5344CB8AC3E}">
        <p14:creationId xmlns:p14="http://schemas.microsoft.com/office/powerpoint/2010/main" val="221704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タイトル 1">
            <a:extLst>
              <a:ext uri="{FF2B5EF4-FFF2-40B4-BE49-F238E27FC236}">
                <a16:creationId xmlns:a16="http://schemas.microsoft.com/office/drawing/2014/main" id="{A6C4BF47-A573-4CAE-AAC9-B006A54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GNSS Signals </a:t>
            </a:r>
            <a:r>
              <a:rPr lang="en-US" altLang="ja-JP" sz="2000" dirty="0">
                <a:solidFill>
                  <a:schemeClr val="tx1"/>
                </a:solidFill>
              </a:rPr>
              <a:t>(2/3)</a:t>
            </a:r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スライド番号プレースホルダ 20">
            <a:extLst>
              <a:ext uri="{FF2B5EF4-FFF2-40B4-BE49-F238E27FC236}">
                <a16:creationId xmlns:a16="http://schemas.microsoft.com/office/drawing/2014/main" id="{6072A7FD-5C96-45C0-A2C9-927E9572B2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1F5A91CE-2731-4DAE-BD0D-B2B3DD7AE0C6}" type="slidenum">
              <a:rPr lang="ja-JP" altLang="en-US" sz="1200">
                <a:latin typeface="Calibri" panose="020F0502020204030204" pitchFamily="34" charset="0"/>
              </a:rPr>
              <a:pPr eaLnBrk="1" hangingPunct="1"/>
              <a:t>2</a:t>
            </a:fld>
            <a:endParaRPr lang="ja-JP" altLang="en-US" sz="1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557C7C3-0E64-4225-B311-F1DDA000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431940"/>
              </p:ext>
            </p:extLst>
          </p:nvPr>
        </p:nvGraphicFramePr>
        <p:xfrm>
          <a:off x="431540" y="1736812"/>
          <a:ext cx="8316924" cy="46231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90794692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4986815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43852282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6322068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9040627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80995624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994936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0804809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449640536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0544441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821719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1744707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496834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80851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187014589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3588832987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1099291296"/>
                    </a:ext>
                  </a:extLst>
                </a:gridCol>
              </a:tblGrid>
              <a:tr h="114100">
                <a:tc rowSpan="4">
                  <a:txBody>
                    <a:bodyPr/>
                    <a:lstStyle/>
                    <a:p>
                      <a:r>
                        <a:rPr kumimoji="1" lang="en-US" altLang="ja-JP" sz="900" b="1" dirty="0">
                          <a:solidFill>
                            <a:srgbClr val="CC00CC"/>
                          </a:solidFill>
                        </a:rPr>
                        <a:t>Galileo</a:t>
                      </a:r>
                    </a:p>
                    <a:p>
                      <a:r>
                        <a:rPr kumimoji="1" lang="en-US" altLang="ja-JP" sz="900" b="1" dirty="0">
                          <a:solidFill>
                            <a:srgbClr val="CC00CC"/>
                          </a:solidFill>
                        </a:rPr>
                        <a:t>(Cont.)</a:t>
                      </a:r>
                      <a:endParaRPr kumimoji="1" lang="ja-JP" altLang="en-US" sz="900" b="1" dirty="0">
                        <a:solidFill>
                          <a:srgbClr val="CC00CC"/>
                        </a:solidFill>
                      </a:endParaRPr>
                    </a:p>
                  </a:txBody>
                  <a:tcPr marL="21600" marR="216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1191.795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E5a+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*7</a:t>
                      </a:r>
                      <a:endParaRPr lang="ja-JP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(-152.0)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8-</a:t>
                      </a: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71194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1278.75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</a:t>
                      </a: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-A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BOC(10,5)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5.115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G/NAV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PRS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2482702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-B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(5)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5.115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C/NAV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CAS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ja-JP" alt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HAS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E6B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21653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E6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-C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(5)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5.115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E6C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2972201"/>
                  </a:ext>
                </a:extLst>
              </a:tr>
              <a:tr h="114100">
                <a:tc rowSpan="17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rgbClr val="3333FF"/>
                          </a:solidFill>
                          <a:effectLst/>
                          <a:latin typeface="+mj-lt"/>
                        </a:rPr>
                        <a:t>QZSS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[9][10][11][12]</a:t>
                      </a:r>
                      <a:r>
                        <a:rPr kumimoji="1" lang="en-US" altLang="ja-JP" sz="900" b="1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1575.42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/A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I/Q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r>
                        <a:rPr lang="en-US" sz="9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*8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L1CA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059290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L1C/B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baseline="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900" kern="100" baseline="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L1CB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9543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-163.0</a:t>
                      </a:r>
                      <a:r>
                        <a:rPr lang="en-US" sz="9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*9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CNAV-2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BCH,LDPC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L1CD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292391"/>
                  </a:ext>
                </a:extLst>
              </a:tr>
              <a:tr h="147996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-158.25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Block</a:t>
                      </a:r>
                      <a:r>
                        <a:rPr lang="ja-JP" altLang="en-US" sz="900" dirty="0">
                          <a:effectLst/>
                          <a:latin typeface="+mj-lt"/>
                        </a:rPr>
                        <a:t> </a:t>
                      </a:r>
                      <a:r>
                        <a:rPr lang="en-US" altLang="ja-JP" sz="900" dirty="0">
                          <a:effectLst/>
                          <a:latin typeface="+mj-lt"/>
                        </a:rPr>
                        <a:t>I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L1CP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094070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-158.25</a:t>
                      </a:r>
                      <a:r>
                        <a:rPr kumimoji="1" lang="en-US" altLang="ja-JP" sz="900" kern="1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TMBOC</a:t>
                      </a:r>
                      <a:r>
                        <a:rPr lang="en-US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(6,1,4/33)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1.023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18000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</a:t>
                      </a:r>
                      <a:r>
                        <a:rPr kumimoji="1" lang="ja-JP" altLang="en-US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II ~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L1CP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607454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-161.0/</a:t>
                      </a: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SLAS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L1S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2784842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1227.6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-160.0/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BPSK(1)+TDM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L2CM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76445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L2C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-L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BPSK(1)+TDM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767250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0.5115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L2CL</a:t>
                      </a: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473718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L5-I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-157.9/</a:t>
                      </a: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-157.0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486095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L5-Q</a:t>
                      </a:r>
                      <a:endParaRPr lang="ja-JP" sz="900" kern="10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-157.9</a:t>
                      </a: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/-157.0</a:t>
                      </a:r>
                      <a:endParaRPr kumimoji="1" lang="ja-JP" altLang="ja-JP" sz="8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217013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-157.0</a:t>
                      </a:r>
                      <a:r>
                        <a:rPr kumimoji="1" lang="en-US" altLang="ja-JP" sz="900" kern="1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*11</a:t>
                      </a:r>
                      <a:endParaRPr kumimoji="1" lang="ja-JP" altLang="ja-JP" sz="900" kern="1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Normal mode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L5SI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197857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 err="1">
                          <a:effectLst/>
                          <a:latin typeface="+mj-lt"/>
                        </a:rPr>
                        <a:t>Verif</a:t>
                      </a:r>
                      <a:r>
                        <a:rPr lang="en-US" altLang="ja-JP" sz="900" dirty="0">
                          <a:effectLst/>
                          <a:latin typeface="+mj-lt"/>
                        </a:rPr>
                        <a:t>.  mode</a:t>
                      </a:r>
                      <a:endParaRPr lang="ja-JP" sz="11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L5SIV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878366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L5S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Normal mode</a:t>
                      </a:r>
                      <a:endParaRPr kumimoji="1" lang="ja-JP" altLang="ja-JP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L5SQ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606987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kumimoji="1" lang="ja-JP" altLang="ja-JP" sz="900" kern="1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Verif</a:t>
                      </a: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mode</a:t>
                      </a:r>
                      <a:endParaRPr kumimoji="1" lang="ja-JP" altLang="ja-JP" sz="11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L5SQV</a:t>
                      </a:r>
                      <a:endParaRPr kumimoji="1" lang="ja-JP" altLang="ja-JP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793788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1278.75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-155.7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BPSK(5)+TDM</a:t>
                      </a:r>
                      <a:r>
                        <a:rPr lang="en-US" sz="8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*12</a:t>
                      </a:r>
                      <a:endParaRPr lang="ja-JP" sz="8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2.5575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RS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CLAS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L6D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778569"/>
                  </a:ext>
                </a:extLst>
              </a:tr>
              <a:tr h="11410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L6L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BPSK(5)+TDM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7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1048575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2.5575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</a:t>
                      </a:r>
                      <a:r>
                        <a:rPr kumimoji="1" lang="ja-JP" altLang="en-US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ja-JP" sz="9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kumimoji="1" lang="ja-JP" altLang="ja-JP" sz="9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83067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L6E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18000" marB="180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BPSK(5)+TDM</a:t>
                      </a:r>
                      <a:r>
                        <a:rPr kumimoji="1" lang="en-US" altLang="ja-JP" sz="800" kern="1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*12</a:t>
                      </a:r>
                      <a:endParaRPr kumimoji="1" lang="ja-JP" altLang="ja-JP" sz="800" kern="100" baseline="300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2.5575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6E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RS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MADOCA-PPP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L6E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234487"/>
                  </a:ext>
                </a:extLst>
              </a:tr>
              <a:tr h="0">
                <a:tc rowSpan="1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1" kern="1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BeiDou</a:t>
                      </a:r>
                      <a:r>
                        <a:rPr kumimoji="1" lang="en-US" altLang="ja-JP" sz="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[13][14][15]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[16][17]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1561.098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B1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-163.0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BPSK(2)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2046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2.046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D1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749398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GEO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0938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(2)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32740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1575.42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-159.0/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-161.0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B-</a:t>
                      </a:r>
                      <a:r>
                        <a:rPr lang="en-US" altLang="ja-JP" sz="8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CNAV1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BDS-3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B1CD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1874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QMBOC</a:t>
                      </a: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(6,1,4/33)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B1CP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1383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B1A-D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BOC(14,2)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4209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B1A-P</a:t>
                      </a:r>
                      <a:endParaRPr kumimoji="1" lang="ja-JP" alt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302822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B2a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-156.0/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B-</a:t>
                      </a:r>
                      <a:r>
                        <a:rPr lang="en-US" altLang="ja-JP" sz="8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CNAV2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BDS-3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B2AD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330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B2a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B2AP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5532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</a:t>
                      </a: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(2)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2046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62503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en-US" altLang="ja-JP" sz="900" b="0" kern="100" baseline="300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D2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Ｐゴシック" panose="020B0600070205080204" pitchFamily="50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GEO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B2I</a:t>
                      </a:r>
                      <a:endParaRPr kumimoji="1" lang="ja-JP" altLang="ja-JP" sz="9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982073"/>
                  </a:ext>
                </a:extLst>
              </a:tr>
            </a:tbl>
          </a:graphicData>
        </a:graphic>
      </p:graphicFrame>
      <p:sp>
        <p:nvSpPr>
          <p:cNvPr id="6" name="Text Box 52">
            <a:extLst>
              <a:ext uri="{FF2B5EF4-FFF2-40B4-BE49-F238E27FC236}">
                <a16:creationId xmlns:a16="http://schemas.microsoft.com/office/drawing/2014/main" id="{04BC7173-2641-403C-A5B5-A0831F6E4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6381328"/>
            <a:ext cx="8316923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*7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AltBOC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, *8  -164.0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(SVID=7), *9 -167.2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(SVID=7), *10 -162.4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(SVID=7), *11 -162.6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dBW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(SVID=3), *12 +CSK by Nav Data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9CFE2B27-35C3-372A-DFEC-AE13EF9F65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556012"/>
              </p:ext>
            </p:extLst>
          </p:nvPr>
        </p:nvGraphicFramePr>
        <p:xfrm>
          <a:off x="431540" y="1088740"/>
          <a:ext cx="8316924" cy="617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51633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09382227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5942733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47568908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62908973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44508398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4725180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57274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9262594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77200273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772547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7103395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4829958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69936599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995466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6533337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628015514"/>
                    </a:ext>
                  </a:extLst>
                </a:gridCol>
              </a:tblGrid>
              <a:tr h="2057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Carrier Freq. (MHz)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I/Q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Min Rec. Power (</a:t>
                      </a:r>
                      <a:r>
                        <a:rPr kumimoji="1" lang="en-US" altLang="ja-JP" sz="900" dirty="0" err="1">
                          <a:solidFill>
                            <a:schemeClr val="tx1"/>
                          </a:solidFill>
                        </a:rPr>
                        <a:t>dBW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Modulation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Primary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Secondary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Navigation 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Pocket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SDR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Signal ID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57734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Chip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Mcps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Symbol Rate 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(bps)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FEC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1301"/>
                  </a:ext>
                </a:extLst>
              </a:tr>
            </a:tbl>
          </a:graphicData>
        </a:graphic>
      </p:graphicFrame>
      <p:sp>
        <p:nvSpPr>
          <p:cNvPr id="3" name="Text Box 52">
            <a:extLst>
              <a:ext uri="{FF2B5EF4-FFF2-40B4-BE49-F238E27FC236}">
                <a16:creationId xmlns:a16="http://schemas.microsoft.com/office/drawing/2014/main" id="{B7C6E5B1-459A-D053-43BC-AE5C7B29A9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77" y="801109"/>
            <a:ext cx="371364" cy="1457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endParaRPr lang="en-US" altLang="ja-JP" sz="900" dirty="0">
              <a:latin typeface="+mj-lt"/>
              <a:ea typeface="ＭＳ 明朝" pitchFamily="17" charset="-128"/>
            </a:endParaRPr>
          </a:p>
        </p:txBody>
      </p:sp>
      <p:sp>
        <p:nvSpPr>
          <p:cNvPr id="5" name="Text Box 52">
            <a:extLst>
              <a:ext uri="{FF2B5EF4-FFF2-40B4-BE49-F238E27FC236}">
                <a16:creationId xmlns:a16="http://schemas.microsoft.com/office/drawing/2014/main" id="{55A83E4C-ACAA-4953-E1D8-AE6D56E04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841" y="800418"/>
            <a:ext cx="1431775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Military or Restricted Signal</a:t>
            </a:r>
          </a:p>
        </p:txBody>
      </p:sp>
    </p:spTree>
    <p:extLst>
      <p:ext uri="{BB962C8B-B14F-4D97-AF65-F5344CB8AC3E}">
        <p14:creationId xmlns:p14="http://schemas.microsoft.com/office/powerpoint/2010/main" val="2425878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5" name="タイトル 1">
            <a:extLst>
              <a:ext uri="{FF2B5EF4-FFF2-40B4-BE49-F238E27FC236}">
                <a16:creationId xmlns:a16="http://schemas.microsoft.com/office/drawing/2014/main" id="{A6C4BF47-A573-4CAE-AAC9-B006A54A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000" b="1" dirty="0">
                <a:solidFill>
                  <a:schemeClr val="tx1"/>
                </a:solidFill>
              </a:rPr>
              <a:t>GNSS Signals </a:t>
            </a:r>
            <a:r>
              <a:rPr lang="en-US" altLang="ja-JP" sz="2000" dirty="0">
                <a:solidFill>
                  <a:schemeClr val="tx1"/>
                </a:solidFill>
              </a:rPr>
              <a:t>(3/3)</a:t>
            </a:r>
            <a:endParaRPr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21" name="スライド番号プレースホルダ 20">
            <a:extLst>
              <a:ext uri="{FF2B5EF4-FFF2-40B4-BE49-F238E27FC236}">
                <a16:creationId xmlns:a16="http://schemas.microsoft.com/office/drawing/2014/main" id="{6072A7FD-5C96-45C0-A2C9-927E9572B2A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/>
            <a:fld id="{1F5A91CE-2731-4DAE-BD0D-B2B3DD7AE0C6}" type="slidenum">
              <a:rPr lang="ja-JP" altLang="en-US" sz="1200">
                <a:latin typeface="Calibri" panose="020F0502020204030204" pitchFamily="34" charset="0"/>
              </a:rPr>
              <a:pPr eaLnBrk="1" hangingPunct="1"/>
              <a:t>3</a:t>
            </a:fld>
            <a:endParaRPr lang="ja-JP" altLang="en-US" sz="1200" dirty="0">
              <a:latin typeface="Calibri" panose="020F0502020204030204" pitchFamily="34" charset="0"/>
            </a:endParaRPr>
          </a:p>
        </p:txBody>
      </p:sp>
      <p:graphicFrame>
        <p:nvGraphicFramePr>
          <p:cNvPr id="2" name="表 1">
            <a:extLst>
              <a:ext uri="{FF2B5EF4-FFF2-40B4-BE49-F238E27FC236}">
                <a16:creationId xmlns:a16="http://schemas.microsoft.com/office/drawing/2014/main" id="{8557C7C3-0E64-4225-B311-F1DDA0001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016505"/>
              </p:ext>
            </p:extLst>
          </p:nvPr>
        </p:nvGraphicFramePr>
        <p:xfrm>
          <a:off x="431541" y="1736812"/>
          <a:ext cx="8316927" cy="3031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907946926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674986815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438522820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632206805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3904062775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1680995624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5994936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3297211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85132513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0544441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82171945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1744707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22044485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58085100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187014589"/>
                    </a:ext>
                  </a:extLst>
                </a:gridCol>
                <a:gridCol w="720079">
                  <a:extLst>
                    <a:ext uri="{9D8B030D-6E8A-4147-A177-3AD203B41FA5}">
                      <a16:colId xmlns:a16="http://schemas.microsoft.com/office/drawing/2014/main" val="3588832987"/>
                    </a:ext>
                  </a:extLst>
                </a:gridCol>
                <a:gridCol w="612072">
                  <a:extLst>
                    <a:ext uri="{9D8B030D-6E8A-4147-A177-3AD203B41FA5}">
                      <a16:colId xmlns:a16="http://schemas.microsoft.com/office/drawing/2014/main" val="1767819899"/>
                    </a:ext>
                  </a:extLst>
                </a:gridCol>
              </a:tblGrid>
              <a:tr h="114187">
                <a:tc rowSpan="10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1" kern="1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BeiDou</a:t>
                      </a:r>
                      <a:endParaRPr kumimoji="1" lang="en-US" altLang="ja-JP" sz="900" b="1" kern="100" dirty="0">
                        <a:solidFill>
                          <a:srgbClr val="FF0000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1" kern="1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(Cont.)</a:t>
                      </a:r>
                      <a:endParaRPr lang="en-US" sz="900" dirty="0">
                        <a:solidFill>
                          <a:srgbClr val="FF0000"/>
                        </a:solidFill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b="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kumimoji="1" lang="ja-JP" altLang="ja-JP" sz="900" b="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8520707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1207.14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B2b</a:t>
                      </a: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-160.0/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-162.0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b="0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B-CNAV3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BDS-3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B2BI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1619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alt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B2b-PPP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b="0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NB-LDPC</a:t>
                      </a:r>
                      <a:endParaRPr lang="ja-JP" sz="800" b="0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BDS-3, GEO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B2BI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172862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B2b-Q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BDS-3</a:t>
                      </a:r>
                      <a:endParaRPr lang="ja-JP" sz="9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279262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1191.795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B2a+b</a:t>
                      </a:r>
                      <a:r>
                        <a:rPr lang="en-US" altLang="ja-JP" sz="900" kern="100" baseline="300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*13</a:t>
                      </a:r>
                      <a:endParaRPr lang="ja-JP" sz="900" kern="100" baseline="300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8-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637809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1268.52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</a:t>
                      </a: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-163.0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 (NH)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aseline="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B3I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27552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aseline="0" dirty="0">
                          <a:effectLst/>
                          <a:latin typeface="+mj-lt"/>
                        </a:rPr>
                        <a:t>GEO</a:t>
                      </a:r>
                      <a:endParaRPr lang="ja-JP" sz="900" baseline="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B3I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08662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B3Q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00039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B3A-D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BDS-3</a:t>
                      </a:r>
                      <a:endParaRPr lang="ja-JP" sz="90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169352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B3A-P</a:t>
                      </a:r>
                      <a:endParaRPr lang="ja-JP" sz="900" kern="100" baseline="300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10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kumimoji="1" lang="ja-JP" alt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69487"/>
                  </a:ext>
                </a:extLst>
              </a:tr>
              <a:tr h="114187">
                <a:tc rowSpan="8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1" kern="100" dirty="0" err="1">
                          <a:solidFill>
                            <a:srgbClr val="006699"/>
                          </a:solidFill>
                          <a:effectLst/>
                          <a:latin typeface="+mj-lt"/>
                        </a:rPr>
                        <a:t>NavIC</a:t>
                      </a:r>
                      <a:endParaRPr lang="en-US" sz="900" b="1" kern="100" dirty="0">
                        <a:solidFill>
                          <a:srgbClr val="006699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[18][19]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1575.42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L1-SPS-D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-159.6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BOC(1,1)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IRN-NAV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BCH,LDPC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NVS-01~</a:t>
                      </a: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I1SD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62978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L1-SPS-P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-158.2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CSBOC(6,1,4/33)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18000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I1SP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58145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NavIC</a:t>
                      </a:r>
                      <a:endParaRPr lang="en-US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[18][19]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L5-SPS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-159.0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IRN-NAV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9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I5S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91558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L5-RS-D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16612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L5-RS-P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667085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2492.028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S-SPS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-162.3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8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IRN-NAV</a:t>
                      </a:r>
                      <a:endParaRPr lang="ja-JP" sz="8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/>
                        <a:t>ISS</a:t>
                      </a: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745095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S-RS-D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800" kern="12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7996163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900" b="0" kern="100" baseline="300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S-RS-P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8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*14</a:t>
                      </a:r>
                      <a:endParaRPr lang="ja-JP" sz="8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BOC(5,2)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2.046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?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endParaRPr lang="ja-JP" sz="80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-</a:t>
                      </a:r>
                      <a:endParaRPr lang="ja-JP" sz="9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489555"/>
                  </a:ext>
                </a:extLst>
              </a:tr>
              <a:tr h="114187"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SBAS</a:t>
                      </a:r>
                      <a:r>
                        <a:rPr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 *15</a:t>
                      </a:r>
                    </a:p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b="0" kern="100" baseline="3000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[20]</a:t>
                      </a: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1575.42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L1C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/A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1.023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SBAS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dirty="0">
                          <a:effectLst/>
                          <a:latin typeface="+mj-lt"/>
                        </a:rPr>
                        <a:t>PRN120-158</a:t>
                      </a:r>
                      <a:endParaRPr lang="en-US" altLang="ja-JP" sz="900" baseline="30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L1CA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424711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0367" marR="20367" marT="14400" marB="144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1176.45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I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 SBAS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500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250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1/2</a:t>
                      </a:r>
                      <a:r>
                        <a:rPr kumimoji="1" lang="en-US" altLang="ja-JP" sz="900" b="0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1" lang="en-US" altLang="ja-JP" sz="900" b="0" kern="100" baseline="300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*6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L5I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480070"/>
                  </a:ext>
                </a:extLst>
              </a:tr>
              <a:tr h="114187">
                <a:tc v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en-US" sz="1000" b="1" kern="10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215900" algn="l"/>
                        </a:tabLst>
                        <a:defRPr/>
                      </a:pPr>
                      <a:endParaRPr kumimoji="1" lang="ja-JP" altLang="ja-JP" sz="10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 err="1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L5</a:t>
                      </a: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Q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BPSK</a:t>
                      </a: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(10)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10230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10.23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1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 (MC)</a:t>
                      </a:r>
                      <a:endParaRPr kumimoji="1" lang="ja-JP" altLang="ja-JP" sz="9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2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sz="900" kern="100" dirty="0"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-</a:t>
                      </a:r>
                      <a:endParaRPr lang="ja-JP" sz="900" kern="100" dirty="0"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21600" marR="21600" marT="3600" marB="36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tabLst>
                          <a:tab pos="215900" algn="l"/>
                        </a:tabLst>
                      </a:pPr>
                      <a:endParaRPr lang="ja-JP" sz="1000" dirty="0"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tabLst>
                          <a:tab pos="215900" algn="l"/>
                        </a:tabLst>
                      </a:pPr>
                      <a:r>
                        <a:rPr lang="en-US" altLang="ja-JP" sz="900" b="0" baseline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L5Q</a:t>
                      </a:r>
                      <a:endParaRPr lang="ja-JP" sz="900" b="0" baseline="0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21600" marR="21600" marT="3600" marB="36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337757"/>
                  </a:ext>
                </a:extLst>
              </a:tr>
            </a:tbl>
          </a:graphicData>
        </a:graphic>
      </p:graphicFrame>
      <p:sp>
        <p:nvSpPr>
          <p:cNvPr id="5" name="Text Box 52">
            <a:extLst>
              <a:ext uri="{FF2B5EF4-FFF2-40B4-BE49-F238E27FC236}">
                <a16:creationId xmlns:a16="http://schemas.microsoft.com/office/drawing/2014/main" id="{89879BE5-6793-482F-9ED0-C968FE436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971702"/>
            <a:ext cx="8532948" cy="1673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0" rIns="72000" bIns="36000">
            <a:spAutoFit/>
          </a:bodyPr>
          <a:lstStyle/>
          <a:p>
            <a:r>
              <a:rPr sz="800"/>
              <a:t>[1] IS-GPS-200K, Navstar GPS space segment/navigation user interfaces - interface specification, 2019, [2] IS-GPS-800F, Navstar GPS space segment/user segment L1C interface - interface specification, 2019, [3] IS-GPS-705A, Navstar GPS space segment/user segment L5 interface - interface specification, 2010, [4] GLONASS interface control document - navigation radiosignal in bands L1, L2, version 5.1, 2008, [5] GLONASS interface control document - code division multiple access open service navigation signal in L1 frequency band, edition 1.0, 2016, [6] GLONASS interface control document - code division multiple access open service navigation signal in L2 frequency band, edition 1.0, 2016, [7] GLONASS interface control document - code division multiple access open service navigation signal in L3 frequency band, edition 1.0, 2016, [8] European GNSS (Galileo) open service signal-in-space interface control document (OS SIS ICD), Issue 1, Revision 3, 2016, [9] Quasi-Zenith satellite system interface specification - satellite positioning, navigation and timing service (IS-QZSS-PNT-003), 2018, [10] Quasi-Zenith satellite system interface specification - sub-meter level augmentation service (IS-QZSS-L1S-003), 2018,  [11] Quasi-Zenith satellite system interface specification - centimeter level augmentation service (IS-QZSS-L6-003), 2018,  [12] Quasi-Zenith satellite system interface specification - positioning technology verification service (IS-QZSS-TV-004), 2023, [13] BeiDou navigation satellite system signal in space interface control document - open service signal B1I, version 3, 2019, [14] BeiDou navigation satellite system signal in space interface control document - open service signal B1C, version 1.0, 2017, [15] BeiDou navigation satellite system signal in space interface control document - open service signal B2a, version 1.0, 2017, [16] BeiDou navigation satellite system signal in space interface control document - open service signal B3I, version 1.0, 2018, [17] BeiDou navigation satellite system signal in space interface control document - Precise Point Positioning service signal PPP-B2b, version 1.0, 2020, [18] Indian Regional Navigation Satellite System, Signal in space ICD for standard positioning service version 1.1, 2017, [19] NAVIC signal in space ICD for standard positioning service in L1 frequency version 1.0, 2023, [20] RTCA, Minimum Operational Performance Standards for Airborne Equipment Using Global Positioning System/Wide Area Augmentation System, DO-229, 1996</a:t>
            </a:r>
          </a:p>
        </p:txBody>
      </p:sp>
      <p:sp>
        <p:nvSpPr>
          <p:cNvPr id="6" name="Text Box 52">
            <a:extLst>
              <a:ext uri="{FF2B5EF4-FFF2-40B4-BE49-F238E27FC236}">
                <a16:creationId xmlns:a16="http://schemas.microsoft.com/office/drawing/2014/main" id="{1A702A17-9656-4C1A-B8B5-1E4F22EAF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540" y="4797152"/>
            <a:ext cx="8316923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*13 ACE-BOC, *14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Interplex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Modulation, *15 including QZSS L1Sb, </a:t>
            </a:r>
            <a:r>
              <a:rPr lang="en-US" altLang="ja-JP" sz="900" dirty="0" err="1">
                <a:latin typeface="+mj-lt"/>
                <a:ea typeface="ＭＳ 明朝" pitchFamily="17" charset="-128"/>
              </a:rPr>
              <a:t>BeiDou</a:t>
            </a:r>
            <a:r>
              <a:rPr lang="en-US" altLang="ja-JP" sz="900" dirty="0">
                <a:latin typeface="+mj-lt"/>
                <a:ea typeface="ＭＳ 明朝" pitchFamily="17" charset="-128"/>
              </a:rPr>
              <a:t> BDSBAS-B1C/B2a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C2889D20-9C41-833B-61C3-AEB55D8C9B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06320"/>
              </p:ext>
            </p:extLst>
          </p:nvPr>
        </p:nvGraphicFramePr>
        <p:xfrm>
          <a:off x="431540" y="1088740"/>
          <a:ext cx="8316924" cy="6172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32516335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09382227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59427333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47568908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262908973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544508398"/>
                    </a:ext>
                  </a:extLst>
                </a:gridCol>
                <a:gridCol w="396044">
                  <a:extLst>
                    <a:ext uri="{9D8B030D-6E8A-4147-A177-3AD203B41FA5}">
                      <a16:colId xmlns:a16="http://schemas.microsoft.com/office/drawing/2014/main" val="3472518054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689572748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99262594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772002735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177254722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57103395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248299587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1069936599"/>
                    </a:ext>
                  </a:extLst>
                </a:gridCol>
                <a:gridCol w="468052">
                  <a:extLst>
                    <a:ext uri="{9D8B030D-6E8A-4147-A177-3AD203B41FA5}">
                      <a16:colId xmlns:a16="http://schemas.microsoft.com/office/drawing/2014/main" val="30995466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565333373"/>
                    </a:ext>
                  </a:extLst>
                </a:gridCol>
                <a:gridCol w="612068">
                  <a:extLst>
                    <a:ext uri="{9D8B030D-6E8A-4147-A177-3AD203B41FA5}">
                      <a16:colId xmlns:a16="http://schemas.microsoft.com/office/drawing/2014/main" val="628015514"/>
                    </a:ext>
                  </a:extLst>
                </a:gridCol>
              </a:tblGrid>
              <a:tr h="205740"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System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Carrier Freq. (MHz)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Signal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I/Q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Min Rec. Power (</a:t>
                      </a:r>
                      <a:r>
                        <a:rPr kumimoji="1" lang="en-US" altLang="ja-JP" sz="900" dirty="0" err="1">
                          <a:solidFill>
                            <a:schemeClr val="tx1"/>
                          </a:solidFill>
                        </a:rPr>
                        <a:t>dBW</a:t>
                      </a:r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dirty="0">
                          <a:solidFill>
                            <a:schemeClr val="tx1"/>
                          </a:solidFill>
                        </a:rPr>
                        <a:t>Modulation</a:t>
                      </a:r>
                      <a:endParaRPr kumimoji="1" lang="ja-JP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Primary 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kumimoji="1"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Secondary 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Code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Navigation 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Notes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Pocket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SDR</a:t>
                      </a:r>
                    </a:p>
                    <a:p>
                      <a:pPr algn="ctr"/>
                      <a:r>
                        <a:rPr kumimoji="1" lang="en-US" altLang="ja-JP" sz="900" b="1" dirty="0">
                          <a:solidFill>
                            <a:schemeClr val="tx1"/>
                          </a:solidFill>
                        </a:rPr>
                        <a:t>Signal ID</a:t>
                      </a:r>
                      <a:endParaRPr kumimoji="1" lang="ja-JP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357734"/>
                  </a:ext>
                </a:extLst>
              </a:tr>
              <a:tr h="20574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Chip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Mcps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Length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(chip)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Cycle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Symbol Rate (</a:t>
                      </a:r>
                      <a:r>
                        <a:rPr lang="en-US" altLang="ja-JP" sz="900" b="1" kern="100" dirty="0" err="1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sps</a:t>
                      </a: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Data Rate</a:t>
                      </a: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(bps)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215900" algn="l"/>
                        </a:tabLst>
                      </a:pPr>
                      <a:r>
                        <a:rPr lang="en-US" altLang="ja-JP" sz="9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ＭＳ 明朝" panose="02020609040205080304" pitchFamily="17" charset="-128"/>
                          <a:cs typeface="Times New Roman" panose="02020603050405020304" pitchFamily="18" charset="0"/>
                        </a:rPr>
                        <a:t>FEC</a:t>
                      </a:r>
                      <a:endParaRPr lang="ja-JP" sz="900" b="1" kern="100" dirty="0">
                        <a:solidFill>
                          <a:schemeClr val="tx1"/>
                        </a:solidFill>
                        <a:effectLst/>
                        <a:latin typeface="+mj-lt"/>
                        <a:ea typeface="ＭＳ 明朝" panose="02020609040205080304" pitchFamily="17" charset="-128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671301"/>
                  </a:ext>
                </a:extLst>
              </a:tr>
            </a:tbl>
          </a:graphicData>
        </a:graphic>
      </p:graphicFrame>
      <p:sp>
        <p:nvSpPr>
          <p:cNvPr id="8" name="Text Box 52">
            <a:extLst>
              <a:ext uri="{FF2B5EF4-FFF2-40B4-BE49-F238E27FC236}">
                <a16:creationId xmlns:a16="http://schemas.microsoft.com/office/drawing/2014/main" id="{DBED149B-E386-9397-BC3E-F51646953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9477" y="801109"/>
            <a:ext cx="371364" cy="14577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endParaRPr lang="en-US" altLang="ja-JP" sz="900" dirty="0">
              <a:latin typeface="+mj-lt"/>
              <a:ea typeface="ＭＳ 明朝" pitchFamily="17" charset="-128"/>
            </a:endParaRPr>
          </a:p>
        </p:txBody>
      </p:sp>
      <p:sp>
        <p:nvSpPr>
          <p:cNvPr id="9" name="Text Box 52">
            <a:extLst>
              <a:ext uri="{FF2B5EF4-FFF2-40B4-BE49-F238E27FC236}">
                <a16:creationId xmlns:a16="http://schemas.microsoft.com/office/drawing/2014/main" id="{5DC0FA62-B3F2-E23C-6A3D-F7C0E04DD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841" y="800418"/>
            <a:ext cx="1431775" cy="145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2000" tIns="3600" rIns="72000" bIns="3600">
            <a:spAutoFit/>
          </a:bodyPr>
          <a:lstStyle/>
          <a:p>
            <a:pPr algn="ctr">
              <a:defRPr/>
            </a:pPr>
            <a:r>
              <a:rPr lang="en-US" altLang="ja-JP" sz="900" dirty="0">
                <a:latin typeface="+mj-lt"/>
                <a:ea typeface="ＭＳ 明朝" pitchFamily="17" charset="-128"/>
              </a:rPr>
              <a:t>Military or Restricted Signal</a:t>
            </a:r>
          </a:p>
        </p:txBody>
      </p:sp>
    </p:spTree>
    <p:extLst>
      <p:ext uri="{BB962C8B-B14F-4D97-AF65-F5344CB8AC3E}">
        <p14:creationId xmlns:p14="http://schemas.microsoft.com/office/powerpoint/2010/main" val="827950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</Template>
  <TotalTime>23822</TotalTime>
  <Words>2560</Words>
  <Application>Microsoft Office PowerPoint</Application>
  <PresentationFormat>画面に合わせる (4:3)</PresentationFormat>
  <Paragraphs>1306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テーマ</vt:lpstr>
      <vt:lpstr>GNSS Signals (1/3)</vt:lpstr>
      <vt:lpstr>GNSS Signals (2/3)</vt:lpstr>
      <vt:lpstr>GNSS Signals (3/3)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GPS</dc:title>
  <dc:creator>ttaka</dc:creator>
  <cp:lastModifiedBy>Tomoji Takasu</cp:lastModifiedBy>
  <cp:revision>730</cp:revision>
  <cp:lastPrinted>2014-07-26T08:18:22Z</cp:lastPrinted>
  <dcterms:created xsi:type="dcterms:W3CDTF">2009-07-28T07:48:45Z</dcterms:created>
  <dcterms:modified xsi:type="dcterms:W3CDTF">2025-02-27T08:33:17Z</dcterms:modified>
</cp:coreProperties>
</file>